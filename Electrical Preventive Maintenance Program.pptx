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Poppins SemiBold" panose="020B060402020202020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C3A6AD-86F3-4736-89D3-FAA758777AEB}">
  <a:tblStyle styleId="{33C3A6AD-86F3-4736-89D3-FAA758777A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8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7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4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6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4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795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901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320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7071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39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7641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743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07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8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3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1285875"/>
            <a:ext cx="42672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69916"/>
            <a:ext cx="1496466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0841" y="4569916"/>
            <a:ext cx="1375469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29186" y="4569916"/>
            <a:ext cx="1197322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9383" y="4569916"/>
            <a:ext cx="1305966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640258"/>
            <a:ext cx="67209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ELECTRICAL MAINTENANCE </a:t>
            </a:r>
            <a:r>
              <a:rPr lang="en-US"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PROGRAM </a:t>
            </a:r>
            <a:endParaRPr sz="3600" b="1" i="0" u="none" strike="noStrike" cap="none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Oberoi Splendor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2910780"/>
            <a:ext cx="62103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Comprehensive Preventive Maintenance &amp; Engineering Protocols for High-Density Infrastructure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71500" y="2910780"/>
            <a:ext cx="3810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3783210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Domain: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Premium Residential Complex — 1,458 Housing Units &amp; Substation Utility Grid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91400" y="1323975"/>
            <a:ext cx="419100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7812" y="23983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96076" y="3255615"/>
            <a:ext cx="17702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Life &amp; Grid Safety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09625" y="3655665"/>
            <a:ext cx="2143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Eliminate risk of electrocution, flashovers, and sudden thermal insulation collapse within high-tension riser ducts.</a:t>
            </a:r>
            <a:endParaRPr sz="1200"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57687" y="23983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3565921" y="3255615"/>
            <a:ext cx="22502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Regulatory Compliance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619500" y="3742124"/>
            <a:ext cx="21431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Strict alignment with CEA safety measures (2010), National Electrical Code guidelines, and statutory local rules.</a:t>
            </a:r>
            <a:endParaRPr sz="1100"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67562" y="23983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635829" y="3255615"/>
            <a:ext cx="17302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Energy Efficiency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429375" y="3655665"/>
            <a:ext cx="2143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Optimize Power Factor, maintain harmonics within limits, and eliminate thermal loss across line conductors.</a:t>
            </a:r>
            <a:endParaRPr sz="1200"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77437" y="23983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9310687" y="325561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Monsoon Resilience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239250" y="3655665"/>
            <a:ext cx="2143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Mitigate critical risks associated with high humidity levels and severe water ingress in basement substations.</a:t>
            </a:r>
            <a:endParaRPr sz="1200" dirty="0"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38312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48187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77112" y="258886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67937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PROGRAM OBJECTIVES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9015" y="270331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0796" y="270331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2578" y="270331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14359" y="270331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455664"/>
            <a:ext cx="2583656" cy="241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93281" y="2455664"/>
            <a:ext cx="2583656" cy="241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15062" y="2455664"/>
            <a:ext cx="2583656" cy="241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36843" y="2455664"/>
            <a:ext cx="2583656" cy="2530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16934" y="3322439"/>
            <a:ext cx="22927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Weekly Checks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71525" y="3693914"/>
            <a:ext cx="2183606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 diagnostic sweeps, battery pack voltage assessments, indicator lamp audits, and fuel levels check on stand-by generators.</a:t>
            </a:r>
            <a:endParaRPr sz="1200"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3538716" y="3322439"/>
            <a:ext cx="22927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Pre-Monsoon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593306" y="3693914"/>
            <a:ext cx="2183606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Dewatering pump test loops, absolute roof-waterproofing evaluations, panel rubber gasket sealing, and moisture purge loops.</a:t>
            </a:r>
            <a:endParaRPr sz="1200"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6360497" y="3322439"/>
            <a:ext cx="22927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Quarterly Checks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415087" y="3693914"/>
            <a:ext cx="2183606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Sub-panel thermal scans, breaker load distribution metrics, earth resistance tests, and neutral current diagnostics.</a:t>
            </a:r>
            <a:endParaRPr sz="1200"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9182278" y="3322439"/>
            <a:ext cx="22927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Annual Overhauls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236868" y="3693914"/>
            <a:ext cx="2183606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 dielectric oil breakdown tests, relay testing, busbar torque adjustments, and comprehensive grid shutdown validation.</a:t>
            </a:r>
            <a:endParaRPr sz="1200" dirty="0"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1676400" y="2884289"/>
            <a:ext cx="88392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MAINTENANCE FRAMEWORK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72592"/>
            <a:ext cx="11049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71500" y="4753867"/>
            <a:ext cx="11049000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*All calibration records must stay updated quarterly. Measurements violating these statutory parameters warrant immediate isolations and diagnostic intervention.</a:t>
            </a:r>
            <a:endParaRPr/>
          </a:p>
        </p:txBody>
      </p:sp>
      <p:graphicFrame>
        <p:nvGraphicFramePr>
          <p:cNvPr id="156" name="Google Shape;156;p16"/>
          <p:cNvGraphicFramePr/>
          <p:nvPr>
            <p:extLst>
              <p:ext uri="{D42A27DB-BD31-4B8C-83A1-F6EECF244321}">
                <p14:modId xmlns:p14="http://schemas.microsoft.com/office/powerpoint/2010/main" val="1162707588"/>
              </p:ext>
            </p:extLst>
          </p:nvPr>
        </p:nvGraphicFramePr>
        <p:xfrm>
          <a:off x="581025" y="1728789"/>
          <a:ext cx="11039475" cy="3159704"/>
        </p:xfrm>
        <a:graphic>
          <a:graphicData uri="http://schemas.openxmlformats.org/drawingml/2006/table">
            <a:tbl>
              <a:tblPr firstRow="1" bandRow="1">
                <a:noFill/>
                <a:tableStyleId>{33C3A6AD-86F3-4736-89D3-FAA758777AEB}</a:tableStyleId>
              </a:tblPr>
              <a:tblGrid>
                <a:gridCol w="246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3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0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Measuring Instrument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Target Parameter Assessed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Prescribed Values (Limits)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Reference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6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Megger Insulation Tester</a:t>
                      </a:r>
                      <a:b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Insulation Resistance (Phase to Earth)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1 MΩ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 14489 / BIS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Earth Resistance Tester</a:t>
                      </a:r>
                      <a:b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 dirty="0"/>
                    </a:p>
                  </a:txBody>
                  <a:tcPr marL="1143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Grid Earth Pit Resistance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≤ 1 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 3043 / IEEE 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6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Power Quality Analyzer</a:t>
                      </a:r>
                      <a:b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 Factor Metrics (Efficiency)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0.95 (Lagging)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BEE Guidelines / Tariff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6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Harmonics Analyzer</a:t>
                      </a:r>
                      <a:b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 dirty="0"/>
                    </a:p>
                  </a:txBody>
                  <a:tcPr marL="2952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Harmonic Distortion (Voltage / Current)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THD ≤ 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IEEE 519 Standard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7" name="Google Shape;157;p16"/>
          <p:cNvSpPr/>
          <p:nvPr/>
        </p:nvSpPr>
        <p:spPr>
          <a:xfrm>
            <a:off x="581025" y="316795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047255" y="316795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604843" y="316795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259937" y="316795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81025" y="364420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047255" y="364420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604843" y="364420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9259937" y="364420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81025" y="412045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3047255" y="412045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604843" y="412045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9259937" y="412045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849" y="25279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V="1">
            <a:off x="611798" y="3179152"/>
            <a:ext cx="180975" cy="1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295" y="384386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849" y="4425492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297066"/>
            <a:ext cx="12192000" cy="17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EQUIPMENT &amp; PRESCRIBED VALUES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2450" y="1664940"/>
            <a:ext cx="55880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1975" y="1674465"/>
            <a:ext cx="55689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75" y="220622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2475" y="327094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2475" y="43356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1066800" y="2187178"/>
            <a:ext cx="466386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Mandatory PPE Protocols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066800" y="2463403"/>
            <a:ext cx="444177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Strict utilization of Arc-flash suits, tested insulated rubber gloves (Class 00 to 2), and certified non-conductive safety helmets.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85850" y="3251894"/>
            <a:ext cx="4643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Dedicated Fire Suppression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85850" y="3528119"/>
            <a:ext cx="442272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deployment of clean-agent CO2 extinguishers alongside integrated gas release modules in the breaker rooms.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085850" y="4316610"/>
            <a:ext cx="4643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Smart Alarm &amp; Evacuation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085850" y="4592835"/>
            <a:ext cx="442272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Integration of Aspirating Smoke Detection Systems (VESDA) paired with automated isolation relay control systems.</a:t>
            </a:r>
            <a:endParaRPr/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SAFETY &amp; FIRE PREVENTION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92972"/>
            <a:ext cx="1104900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01125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9505950" y="4860577"/>
            <a:ext cx="19240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100% RELIABILITY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9315450" y="4860577"/>
            <a:ext cx="19050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47812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1031081" y="2759422"/>
            <a:ext cx="17002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Asset Protection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09625" y="3159472"/>
            <a:ext cx="21431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Increases equipment life by 40%. Prevents catastrophic failure of expensive high-voltage systems.</a:t>
            </a:r>
            <a:endParaRPr/>
          </a:p>
        </p:txBody>
      </p:sp>
      <p:pic>
        <p:nvPicPr>
          <p:cNvPr id="212" name="Google Shape;21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57687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3730942" y="2759422"/>
            <a:ext cx="192024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Operating Savings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3619500" y="3159472"/>
            <a:ext cx="21431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Elimination of local distribution leakages, and penalty waivers through continuous Power Factor correction.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67562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6540817" y="2759422"/>
            <a:ext cx="192024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Insurance Benefits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429375" y="3159472"/>
            <a:ext cx="21431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Unlocks discounted premiums and guarantees prompt claim processing through periodic safety inspection logs.</a:t>
            </a:r>
            <a:endParaRPr/>
          </a:p>
        </p:txBody>
      </p:sp>
      <p:pic>
        <p:nvPicPr>
          <p:cNvPr id="218" name="Google Shape;21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77437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9515713" y="2759422"/>
            <a:ext cx="15901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Resident Peace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239250" y="3159472"/>
            <a:ext cx="21431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Assures uninterrupted lifestyle supply continuity across all 1,458 residential apartments during peak monsoon.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762000" y="4683472"/>
            <a:ext cx="87810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Resiliency &amp; Operational Readiness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62000" y="4997797"/>
            <a:ext cx="83629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Adherence to strict preventive diagnostic guidelines prevents costly grid breakdowns, fully secures resident lives, and sets an exemplary safety benchmark for modern community utilities.</a:t>
            </a:r>
            <a:endParaRPr/>
          </a:p>
        </p:txBody>
      </p:sp>
      <p:pic>
        <p:nvPicPr>
          <p:cNvPr id="223" name="Google Shape;223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738312" y="209267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48187" y="209267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39012" y="2092672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48887" y="2092672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PROGRAM BENEFITS &amp; CONCLUSION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491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Century Gothic</vt:lpstr>
      <vt:lpstr>Calibri</vt:lpstr>
      <vt:lpstr>Wingdings 3</vt:lpstr>
      <vt:lpstr>Poppins SemiBold</vt:lpstr>
      <vt:lpstr>Poppins</vt:lpstr>
      <vt:lpstr>Arial</vt:lpstr>
      <vt:lpstr>Lato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</dc:creator>
  <cp:lastModifiedBy>Deepak Gupta</cp:lastModifiedBy>
  <cp:revision>3</cp:revision>
  <dcterms:modified xsi:type="dcterms:W3CDTF">2026-07-15T12:36:11Z</dcterms:modified>
</cp:coreProperties>
</file>