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Lato" panose="020B0604020202020204" charset="0"/>
      <p:regular r:id="rId13"/>
      <p:bold r:id="rId14"/>
      <p:italic r:id="rId15"/>
      <p:boldItalic r:id="rId16"/>
    </p:embeddedFon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Poppins SemiBold" panose="020B060402020202020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C3A6AD-86F3-4736-89D3-FAA758777AEB}">
  <a:tblStyle styleId="{33C3A6AD-86F3-4736-89D3-FAA758777A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8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3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7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4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6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3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4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2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795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901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320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47071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39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7641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743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07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8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30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3300" y="1285875"/>
            <a:ext cx="42672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71500" y="2910780"/>
            <a:ext cx="38100" cy="586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728FE1-925B-1E1E-96E1-4935968FF3B8}"/>
              </a:ext>
            </a:extLst>
          </p:cNvPr>
          <p:cNvGrpSpPr/>
          <p:nvPr/>
        </p:nvGrpSpPr>
        <p:grpSpPr>
          <a:xfrm>
            <a:off x="571500" y="640258"/>
            <a:ext cx="11412966" cy="4263033"/>
            <a:chOff x="571500" y="640258"/>
            <a:chExt cx="11412966" cy="4263033"/>
          </a:xfrm>
        </p:grpSpPr>
        <p:pic>
          <p:nvPicPr>
            <p:cNvPr id="85" name="Google Shape;85;p1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569916"/>
              <a:ext cx="1496466" cy="3333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pic>
        <p:pic>
          <p:nvPicPr>
            <p:cNvPr id="86" name="Google Shape;86;p1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10841" y="4569916"/>
              <a:ext cx="1375469" cy="333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29186" y="4569916"/>
              <a:ext cx="1197322" cy="333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069383" y="4569916"/>
              <a:ext cx="1305966" cy="333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3"/>
            <p:cNvSpPr txBox="1"/>
            <p:nvPr/>
          </p:nvSpPr>
          <p:spPr>
            <a:xfrm>
              <a:off x="571500" y="640258"/>
              <a:ext cx="6720900" cy="18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ELECTRICAL MAINTENANCE </a:t>
              </a:r>
              <a:r>
                <a:rPr lang="en-US" sz="3600" b="1" i="0" u="none" strike="noStrike" cap="none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PROGRAM </a:t>
              </a:r>
              <a:endParaRPr sz="36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Oberoi Splendor</a:t>
              </a:r>
              <a:endParaRPr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762000" y="2910780"/>
              <a:ext cx="6210300" cy="5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Comprehensive Preventive Maintenance &amp; Engineering Protocols for High-Density Infrastructure</a:t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571500" y="3783210"/>
              <a:ext cx="6400800" cy="548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Target Domain:</a:t>
              </a:r>
              <a:r>
                <a:rPr lang="en-US" sz="135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Premium Residential Complex — 1,458 Housing Units &amp; Substation Utility Grid</a:t>
              </a: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3CD595D-1754-2D4D-9EAE-C5AD787CE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89334" y="1608681"/>
              <a:ext cx="4995132" cy="291078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2103090"/>
            <a:ext cx="26193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7812" y="23983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96076" y="3255615"/>
            <a:ext cx="17702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Life &amp; Grid Safety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09625" y="3655665"/>
            <a:ext cx="2143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Eliminate risk of electrocution, flashovers, and sudden thermal insulation collapse within high-tension riser ducts.</a:t>
            </a:r>
            <a:endParaRPr sz="1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305BB5-198E-08EF-D283-509BBD2BD65C}"/>
              </a:ext>
            </a:extLst>
          </p:cNvPr>
          <p:cNvGrpSpPr/>
          <p:nvPr/>
        </p:nvGrpSpPr>
        <p:grpSpPr>
          <a:xfrm>
            <a:off x="3565921" y="2398365"/>
            <a:ext cx="2250281" cy="2382505"/>
            <a:chOff x="3565921" y="2398365"/>
            <a:chExt cx="2250281" cy="2382505"/>
          </a:xfrm>
        </p:grpSpPr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57687" y="2398365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4"/>
            <p:cNvSpPr txBox="1"/>
            <p:nvPr/>
          </p:nvSpPr>
          <p:spPr>
            <a:xfrm>
              <a:off x="3565921" y="3255615"/>
              <a:ext cx="2250281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Regulatory Compliance</a:t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3619500" y="3742124"/>
              <a:ext cx="2143125" cy="1038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Strict alignment with CEA safety measures (2010), National Electrical Code guidelines, and statutory local rules.</a:t>
              </a:r>
              <a:endParaRPr sz="11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0D4D7D9-A35A-F299-CFE3-C01FE473C6D1}"/>
              </a:ext>
            </a:extLst>
          </p:cNvPr>
          <p:cNvGrpSpPr/>
          <p:nvPr/>
        </p:nvGrpSpPr>
        <p:grpSpPr>
          <a:xfrm>
            <a:off x="6429375" y="2398365"/>
            <a:ext cx="2143125" cy="2365296"/>
            <a:chOff x="6429375" y="2398365"/>
            <a:chExt cx="2143125" cy="2365296"/>
          </a:xfrm>
        </p:grpSpPr>
        <p:pic>
          <p:nvPicPr>
            <p:cNvPr id="111" name="Google Shape;111;p14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167562" y="2398365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4"/>
            <p:cNvSpPr txBox="1"/>
            <p:nvPr/>
          </p:nvSpPr>
          <p:spPr>
            <a:xfrm>
              <a:off x="6635829" y="3255615"/>
              <a:ext cx="1730216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Energy Efficiency</a:t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6429375" y="3655665"/>
              <a:ext cx="214312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Optimize Power Factor, maintain harmonics within limits, and eliminate thermal loss across line conductors.</a:t>
              </a:r>
              <a:endParaRPr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E3382A7-889E-B4CF-D3E4-229E54EB4A80}"/>
              </a:ext>
            </a:extLst>
          </p:cNvPr>
          <p:cNvGrpSpPr/>
          <p:nvPr/>
        </p:nvGrpSpPr>
        <p:grpSpPr>
          <a:xfrm>
            <a:off x="9239250" y="2398365"/>
            <a:ext cx="2143125" cy="2365296"/>
            <a:chOff x="9239250" y="2398365"/>
            <a:chExt cx="2143125" cy="2365296"/>
          </a:xfrm>
        </p:grpSpPr>
        <p:pic>
          <p:nvPicPr>
            <p:cNvPr id="114" name="Google Shape;114;p14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977437" y="2398365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4"/>
            <p:cNvSpPr txBox="1"/>
            <p:nvPr/>
          </p:nvSpPr>
          <p:spPr>
            <a:xfrm>
              <a:off x="9310687" y="3255615"/>
              <a:ext cx="20002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Monsoon Resilience</a:t>
              </a: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9239250" y="3655665"/>
              <a:ext cx="214312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Mitigate critical risks associated with high humidity levels and severe water ingress in basement substations.</a:t>
              </a:r>
              <a:endParaRPr sz="1200" dirty="0"/>
            </a:p>
          </p:txBody>
        </p:sp>
      </p:grpSp>
      <p:pic>
        <p:nvPicPr>
          <p:cNvPr id="117" name="Google Shape;11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38312" y="258886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48187" y="258886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77112" y="258886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167937" y="258886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571500" y="464527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PROGRAM OBJECTIVES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;p15">
            <a:extLst>
              <a:ext uri="{FF2B5EF4-FFF2-40B4-BE49-F238E27FC236}">
                <a16:creationId xmlns:a16="http://schemas.microsoft.com/office/drawing/2014/main" id="{1485CDCD-A066-4CA1-9792-A8A8DEFC6FB0}"/>
              </a:ext>
            </a:extLst>
          </p:cNvPr>
          <p:cNvSpPr/>
          <p:nvPr/>
        </p:nvSpPr>
        <p:spPr>
          <a:xfrm>
            <a:off x="1144464" y="1583896"/>
            <a:ext cx="9949963" cy="2762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AE2B9B4-A278-9A0B-AC1C-D9C02EA2F781}"/>
              </a:ext>
            </a:extLst>
          </p:cNvPr>
          <p:cNvGrpSpPr/>
          <p:nvPr/>
        </p:nvGrpSpPr>
        <p:grpSpPr>
          <a:xfrm>
            <a:off x="716934" y="2703314"/>
            <a:ext cx="2292786" cy="2283262"/>
            <a:chOff x="716934" y="2703314"/>
            <a:chExt cx="2292786" cy="2283262"/>
          </a:xfrm>
        </p:grpSpPr>
        <p:pic>
          <p:nvPicPr>
            <p:cNvPr id="128" name="Google Shape;128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49015" y="2703314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5"/>
            <p:cNvSpPr txBox="1"/>
            <p:nvPr/>
          </p:nvSpPr>
          <p:spPr>
            <a:xfrm>
              <a:off x="716934" y="3322439"/>
              <a:ext cx="2292786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 dirty="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Weekly Checks</a:t>
              </a:r>
              <a:endParaRPr dirty="0"/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771525" y="3693914"/>
              <a:ext cx="2183606" cy="1292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Visual diagnostic sweeps, battery pack voltage assessments, indicator lamp audits, and fuel levels check on stand-by generators.</a:t>
              </a:r>
              <a:endParaRPr sz="12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869341-EFF9-0730-6B2E-F8476C3507B7}"/>
              </a:ext>
            </a:extLst>
          </p:cNvPr>
          <p:cNvGrpSpPr/>
          <p:nvPr/>
        </p:nvGrpSpPr>
        <p:grpSpPr>
          <a:xfrm>
            <a:off x="3538716" y="2703314"/>
            <a:ext cx="2292786" cy="2283262"/>
            <a:chOff x="3538716" y="2703314"/>
            <a:chExt cx="2292786" cy="2283262"/>
          </a:xfrm>
        </p:grpSpPr>
        <p:pic>
          <p:nvPicPr>
            <p:cNvPr id="129" name="Google Shape;129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470796" y="2703314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5"/>
            <p:cNvSpPr txBox="1"/>
            <p:nvPr/>
          </p:nvSpPr>
          <p:spPr>
            <a:xfrm>
              <a:off x="3538716" y="3322439"/>
              <a:ext cx="2292786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Pre-Monsoon</a:t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3593306" y="3693914"/>
              <a:ext cx="2183606" cy="1292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Dewatering pump test loops, absolute roof-waterproofing evaluations, panel rubber gasket sealing, and moisture purge loops.</a:t>
              </a:r>
              <a:endParaRPr sz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04B0F92-8989-8101-9420-60F5DC01F034}"/>
              </a:ext>
            </a:extLst>
          </p:cNvPr>
          <p:cNvGrpSpPr/>
          <p:nvPr/>
        </p:nvGrpSpPr>
        <p:grpSpPr>
          <a:xfrm>
            <a:off x="6360497" y="2703314"/>
            <a:ext cx="2292786" cy="2024729"/>
            <a:chOff x="6360497" y="2703314"/>
            <a:chExt cx="2292786" cy="2024729"/>
          </a:xfrm>
        </p:grpSpPr>
        <p:pic>
          <p:nvPicPr>
            <p:cNvPr id="130" name="Google Shape;130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292578" y="2703314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 txBox="1"/>
            <p:nvPr/>
          </p:nvSpPr>
          <p:spPr>
            <a:xfrm>
              <a:off x="6360497" y="3322439"/>
              <a:ext cx="2292786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 dirty="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Quarterly Checks</a:t>
              </a:r>
              <a:endParaRPr dirty="0"/>
            </a:p>
          </p:txBody>
        </p:sp>
        <p:sp>
          <p:nvSpPr>
            <p:cNvPr id="142" name="Google Shape;142;p15"/>
            <p:cNvSpPr txBox="1"/>
            <p:nvPr/>
          </p:nvSpPr>
          <p:spPr>
            <a:xfrm>
              <a:off x="6415087" y="3693914"/>
              <a:ext cx="2183606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Sub-panel thermal scans, breaker load distribution metrics, earth resistance tests, and neutral current diagnostics.</a:t>
              </a:r>
              <a:endParaRPr sz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340BD4-A4F6-92A1-1D6E-3447EA29223B}"/>
              </a:ext>
            </a:extLst>
          </p:cNvPr>
          <p:cNvGrpSpPr/>
          <p:nvPr/>
        </p:nvGrpSpPr>
        <p:grpSpPr>
          <a:xfrm>
            <a:off x="9182278" y="2703314"/>
            <a:ext cx="2292786" cy="2283262"/>
            <a:chOff x="9182278" y="2703314"/>
            <a:chExt cx="2292786" cy="2283262"/>
          </a:xfrm>
        </p:grpSpPr>
        <p:pic>
          <p:nvPicPr>
            <p:cNvPr id="131" name="Google Shape;131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114359" y="2703314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5"/>
            <p:cNvSpPr txBox="1"/>
            <p:nvPr/>
          </p:nvSpPr>
          <p:spPr>
            <a:xfrm>
              <a:off x="9182278" y="3322439"/>
              <a:ext cx="2292786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Annual Overhauls</a:t>
              </a:r>
              <a:endParaRPr/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9236868" y="3693914"/>
              <a:ext cx="2183606" cy="1292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Transformer dielectric oil breakdown tests, relay testing, busbar torque adjustments, and comprehensive grid shutdown validation.</a:t>
              </a:r>
              <a:endParaRPr sz="1200" dirty="0"/>
            </a:p>
          </p:txBody>
        </p:sp>
      </p:grpSp>
      <p:pic>
        <p:nvPicPr>
          <p:cNvPr id="145" name="Google Shape;14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/>
          <p:nvPr/>
        </p:nvSpPr>
        <p:spPr>
          <a:xfrm>
            <a:off x="1121018" y="1524654"/>
            <a:ext cx="9949963" cy="2762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MAINTENANCE FRAMEWORK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952500" y="5092152"/>
            <a:ext cx="110490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*All calibration records must stay updated quarterly. Measurements violating these statutory parameters warrant immediate isolations and diagnostic intervention.</a:t>
            </a:r>
            <a:endParaRPr sz="1200" dirty="0"/>
          </a:p>
        </p:txBody>
      </p:sp>
      <p:sp>
        <p:nvSpPr>
          <p:cNvPr id="157" name="Google Shape;157;p16"/>
          <p:cNvSpPr/>
          <p:nvPr/>
        </p:nvSpPr>
        <p:spPr>
          <a:xfrm>
            <a:off x="581025" y="3167955"/>
            <a:ext cx="2466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047255" y="3167955"/>
            <a:ext cx="35575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604843" y="3167955"/>
            <a:ext cx="26550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259937" y="3167955"/>
            <a:ext cx="23510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81025" y="3644205"/>
            <a:ext cx="2466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047255" y="3644205"/>
            <a:ext cx="35575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604843" y="3644205"/>
            <a:ext cx="26550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9259937" y="3644205"/>
            <a:ext cx="23510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81025" y="4120455"/>
            <a:ext cx="2466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3047255" y="4120455"/>
            <a:ext cx="35575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604843" y="4120455"/>
            <a:ext cx="26550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9259937" y="4120455"/>
            <a:ext cx="23510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8BA40B-6AFF-F042-02A0-3DD8C0D30347}"/>
              </a:ext>
            </a:extLst>
          </p:cNvPr>
          <p:cNvGrpSpPr/>
          <p:nvPr/>
        </p:nvGrpSpPr>
        <p:grpSpPr>
          <a:xfrm>
            <a:off x="559777" y="1805406"/>
            <a:ext cx="10846776" cy="3046166"/>
            <a:chOff x="571500" y="1805406"/>
            <a:chExt cx="10846776" cy="304616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D95FDCA-D11C-76BB-5507-901CBB93267F}"/>
                </a:ext>
              </a:extLst>
            </p:cNvPr>
            <p:cNvGrpSpPr/>
            <p:nvPr/>
          </p:nvGrpSpPr>
          <p:grpSpPr>
            <a:xfrm>
              <a:off x="571500" y="1805406"/>
              <a:ext cx="10846776" cy="3046166"/>
              <a:chOff x="571500" y="1765848"/>
              <a:chExt cx="10846776" cy="3046166"/>
            </a:xfrm>
          </p:grpSpPr>
          <p:graphicFrame>
            <p:nvGraphicFramePr>
              <p:cNvPr id="156" name="Google Shape;156;p16"/>
              <p:cNvGraphicFramePr/>
              <p:nvPr>
                <p:extLst>
                  <p:ext uri="{D42A27DB-BD31-4B8C-83A1-F6EECF244321}">
                    <p14:modId xmlns:p14="http://schemas.microsoft.com/office/powerpoint/2010/main" val="1617967712"/>
                  </p:ext>
                </p:extLst>
              </p:nvPr>
            </p:nvGraphicFramePr>
            <p:xfrm>
              <a:off x="571500" y="1765848"/>
              <a:ext cx="10846776" cy="3046166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{33C3A6AD-86F3-4736-89D3-FAA758777AEB}</a:tableStyleId>
                  </a:tblPr>
                  <a:tblGrid>
                    <a:gridCol w="24252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9850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10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198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7066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FFFFFF"/>
                              </a:solidFill>
                              <a:latin typeface="Poppins SemiBold"/>
                              <a:ea typeface="Poppins SemiBold"/>
                              <a:cs typeface="Poppins SemiBold"/>
                              <a:sym typeface="Poppins SemiBold"/>
                            </a:rPr>
                            <a:t>Measuring Instrument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1E293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 dirty="0">
                              <a:solidFill>
                                <a:srgbClr val="FFFFFF"/>
                              </a:solidFill>
                              <a:latin typeface="Poppins SemiBold"/>
                              <a:ea typeface="Poppins SemiBold"/>
                              <a:cs typeface="Poppins SemiBold"/>
                              <a:sym typeface="Poppins SemiBold"/>
                            </a:rPr>
                            <a:t>Target Parameter Assessed</a:t>
                          </a:r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1E293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FFFFFF"/>
                              </a:solidFill>
                              <a:latin typeface="Poppins SemiBold"/>
                              <a:ea typeface="Poppins SemiBold"/>
                              <a:cs typeface="Poppins SemiBold"/>
                              <a:sym typeface="Poppins SemiBold"/>
                            </a:rPr>
                            <a:t>Prescribed Values (Limits)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1E293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FFFFFF"/>
                              </a:solidFill>
                              <a:latin typeface="Poppins SemiBold"/>
                              <a:ea typeface="Poppins SemiBold"/>
                              <a:cs typeface="Poppins SemiBold"/>
                              <a:sym typeface="Poppins SemiBold"/>
                            </a:rPr>
                            <a:t>Reference Standard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1E293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727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Megger Insulation Tester</a:t>
                          </a: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        </a:t>
                          </a:r>
                          <a:endParaRPr dirty="0"/>
                        </a:p>
                      </a:txBody>
                      <a:tcPr marL="257175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Insulation Resistance (Phase to Earth)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≥ 1 MΩ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IS 14489 / BIS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727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     Earth Resistance Tester</a:t>
                          </a: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        </a:t>
                          </a:r>
                          <a:endParaRPr dirty="0"/>
                        </a:p>
                      </a:txBody>
                      <a:tcPr marL="1143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Grid Earth Pit Resistance Value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≤ 1 Ω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IS 3043 / IEEE 80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727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Power Quality Analyzer</a:t>
                          </a: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        </a:t>
                          </a:r>
                          <a:endParaRPr dirty="0"/>
                        </a:p>
                      </a:txBody>
                      <a:tcPr marL="257175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Power Factor Metrics (Efficiency)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≥ 0.95 (Lagging)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BEE Guidelines / Tariff rules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7275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Harmonics Analyzer</a:t>
                          </a:r>
                          <a:b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</a:b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         </a:t>
                          </a:r>
                          <a:endParaRPr dirty="0"/>
                        </a:p>
                      </a:txBody>
                      <a:tcPr marL="295275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Total Harmonic Distortion (Voltage / Current)</a:t>
                          </a:r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THD ≤ 5%</a:t>
                          </a:r>
                          <a:endParaRPr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25" b="0" i="0" u="none" strike="noStrike" cap="none" dirty="0">
                              <a:solidFill>
                                <a:srgbClr val="334155"/>
                              </a:solidFill>
                              <a:latin typeface="Lato"/>
                              <a:ea typeface="Lato"/>
                              <a:cs typeface="Lato"/>
                              <a:sym typeface="Lato"/>
                            </a:rPr>
                            <a:t>IEEE 519 Standard</a:t>
                          </a:r>
                          <a:endParaRPr dirty="0"/>
                        </a:p>
                      </a:txBody>
                      <a:tcPr marL="63500" marR="63500" marT="25400" marB="2540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  <p:pic>
            <p:nvPicPr>
              <p:cNvPr id="171" name="Google Shape;171;p16" descr="image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30849" y="2551396"/>
                <a:ext cx="142875" cy="142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2" name="Google Shape;172;p16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flipV="1">
              <a:off x="611798" y="3179152"/>
              <a:ext cx="180975" cy="161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4295" y="3843863"/>
              <a:ext cx="142875" cy="14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30849" y="4425492"/>
              <a:ext cx="180975" cy="142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5" name="Google Shape;17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297066"/>
            <a:ext cx="12192000" cy="17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EQUIPMENT &amp; PRESCRIBED VALUES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6;p15">
            <a:extLst>
              <a:ext uri="{FF2B5EF4-FFF2-40B4-BE49-F238E27FC236}">
                <a16:creationId xmlns:a16="http://schemas.microsoft.com/office/drawing/2014/main" id="{4BF5DB8D-C249-F086-C779-A6FB633A595A}"/>
              </a:ext>
            </a:extLst>
          </p:cNvPr>
          <p:cNvSpPr/>
          <p:nvPr/>
        </p:nvSpPr>
        <p:spPr>
          <a:xfrm>
            <a:off x="952500" y="1312118"/>
            <a:ext cx="9949963" cy="2762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2450" y="1664940"/>
            <a:ext cx="55880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1975" y="1674465"/>
            <a:ext cx="5568999" cy="3790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BC4C98F-188D-906E-51A8-9F3D3A9BD9C8}"/>
              </a:ext>
            </a:extLst>
          </p:cNvPr>
          <p:cNvGrpSpPr/>
          <p:nvPr/>
        </p:nvGrpSpPr>
        <p:grpSpPr>
          <a:xfrm>
            <a:off x="752475" y="2187178"/>
            <a:ext cx="4978189" cy="636091"/>
            <a:chOff x="752475" y="2187178"/>
            <a:chExt cx="4978189" cy="636091"/>
          </a:xfrm>
        </p:grpSpPr>
        <p:pic>
          <p:nvPicPr>
            <p:cNvPr id="185" name="Google Shape;185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2475" y="2206228"/>
              <a:ext cx="17145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7"/>
            <p:cNvSpPr txBox="1"/>
            <p:nvPr/>
          </p:nvSpPr>
          <p:spPr>
            <a:xfrm>
              <a:off x="1066800" y="2187178"/>
              <a:ext cx="4663864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Mandatory PPE Protocols</a:t>
              </a:r>
              <a:endParaRPr dirty="0"/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1066800" y="2463403"/>
              <a:ext cx="4441775" cy="359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2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Strict utilization of Arc-flash suits, tested insulated rubber gloves (Class 00 to 2), and certified non-conductive safety helmets.</a:t>
              </a:r>
              <a:endParaRPr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AD407A5-5D26-6E4B-F700-B0CD88ED081B}"/>
              </a:ext>
            </a:extLst>
          </p:cNvPr>
          <p:cNvGrpSpPr/>
          <p:nvPr/>
        </p:nvGrpSpPr>
        <p:grpSpPr>
          <a:xfrm>
            <a:off x="752475" y="3251894"/>
            <a:ext cx="4977236" cy="636091"/>
            <a:chOff x="752475" y="3251894"/>
            <a:chExt cx="4977236" cy="636091"/>
          </a:xfrm>
        </p:grpSpPr>
        <p:pic>
          <p:nvPicPr>
            <p:cNvPr id="186" name="Google Shape;186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52475" y="3270944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7"/>
            <p:cNvSpPr txBox="1"/>
            <p:nvPr/>
          </p:nvSpPr>
          <p:spPr>
            <a:xfrm>
              <a:off x="1085850" y="3251894"/>
              <a:ext cx="4643861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Dedicated Fire Suppression</a:t>
              </a:r>
              <a:endParaRPr/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1085850" y="3528119"/>
              <a:ext cx="4422725" cy="359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2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Strategic deployment of clean-agent CO2 extinguishers alongside integrated gas release modules in the breaker rooms.</a:t>
              </a:r>
              <a:endParaRPr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1C40F7E-D7D2-3E01-7BA4-5F3635DB8C40}"/>
              </a:ext>
            </a:extLst>
          </p:cNvPr>
          <p:cNvGrpSpPr/>
          <p:nvPr/>
        </p:nvGrpSpPr>
        <p:grpSpPr>
          <a:xfrm>
            <a:off x="752475" y="4316610"/>
            <a:ext cx="4977236" cy="636091"/>
            <a:chOff x="752475" y="4316610"/>
            <a:chExt cx="4977236" cy="636091"/>
          </a:xfrm>
        </p:grpSpPr>
        <p:pic>
          <p:nvPicPr>
            <p:cNvPr id="187" name="Google Shape;187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52475" y="433566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7"/>
            <p:cNvSpPr txBox="1"/>
            <p:nvPr/>
          </p:nvSpPr>
          <p:spPr>
            <a:xfrm>
              <a:off x="1085850" y="4316610"/>
              <a:ext cx="4643861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Smart Alarm &amp; Evacuation</a:t>
              </a: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1085850" y="4592835"/>
              <a:ext cx="4422725" cy="359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2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Integration of Aspirating Smoke Detection Systems (VESDA) paired with automated isolation relay control systems.</a:t>
              </a:r>
              <a:endParaRPr dirty="0"/>
            </a:p>
          </p:txBody>
        </p:sp>
      </p:grpSp>
      <p:pic>
        <p:nvPicPr>
          <p:cNvPr id="194" name="Google Shape;19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SAFETY &amp; FIRE PREVENTION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;p15">
            <a:extLst>
              <a:ext uri="{FF2B5EF4-FFF2-40B4-BE49-F238E27FC236}">
                <a16:creationId xmlns:a16="http://schemas.microsoft.com/office/drawing/2014/main" id="{31A78D15-EAED-EEE6-F389-BC3837487C87}"/>
              </a:ext>
            </a:extLst>
          </p:cNvPr>
          <p:cNvSpPr/>
          <p:nvPr/>
        </p:nvSpPr>
        <p:spPr>
          <a:xfrm>
            <a:off x="1397243" y="1222474"/>
            <a:ext cx="9949963" cy="2762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92972"/>
            <a:ext cx="1104900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8322"/>
            <a:ext cx="2619375" cy="2676525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01125" y="1578322"/>
            <a:ext cx="2619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9505950" y="4860577"/>
            <a:ext cx="19240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100% RELIABILITY</a:t>
            </a:r>
            <a:endParaRPr dirty="0"/>
          </a:p>
        </p:txBody>
      </p:sp>
      <p:sp>
        <p:nvSpPr>
          <p:cNvPr id="208" name="Google Shape;208;p18"/>
          <p:cNvSpPr/>
          <p:nvPr/>
        </p:nvSpPr>
        <p:spPr>
          <a:xfrm>
            <a:off x="9315450" y="4860577"/>
            <a:ext cx="19050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47812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181CE01-4D43-6258-9778-B2FB9C539C12}"/>
              </a:ext>
            </a:extLst>
          </p:cNvPr>
          <p:cNvGrpSpPr/>
          <p:nvPr/>
        </p:nvGrpSpPr>
        <p:grpSpPr>
          <a:xfrm>
            <a:off x="3619500" y="1902172"/>
            <a:ext cx="2143125" cy="2057400"/>
            <a:chOff x="3619500" y="1902172"/>
            <a:chExt cx="2143125" cy="2057400"/>
          </a:xfrm>
        </p:grpSpPr>
        <p:pic>
          <p:nvPicPr>
            <p:cNvPr id="212" name="Google Shape;212;p18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357687" y="1902172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8"/>
            <p:cNvSpPr txBox="1"/>
            <p:nvPr/>
          </p:nvSpPr>
          <p:spPr>
            <a:xfrm>
              <a:off x="3730942" y="2759422"/>
              <a:ext cx="192024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Operating Savings</a:t>
              </a:r>
              <a:endParaRPr/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3619500" y="3159472"/>
              <a:ext cx="2143125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Elimination of local distribution leakages, and penalty waivers through continuous Power Factor correction.</a:t>
              </a:r>
              <a:endParaRPr dirty="0"/>
            </a:p>
          </p:txBody>
        </p:sp>
      </p:grpSp>
      <p:pic>
        <p:nvPicPr>
          <p:cNvPr id="215" name="Google Shape;21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67562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77437" y="190217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762000" y="4683472"/>
            <a:ext cx="87810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Resiliency &amp; Operational Readiness</a:t>
            </a:r>
            <a:endParaRPr dirty="0"/>
          </a:p>
        </p:txBody>
      </p:sp>
      <p:sp>
        <p:nvSpPr>
          <p:cNvPr id="222" name="Google Shape;222;p18"/>
          <p:cNvSpPr txBox="1"/>
          <p:nvPr/>
        </p:nvSpPr>
        <p:spPr>
          <a:xfrm>
            <a:off x="762000" y="4997797"/>
            <a:ext cx="83629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Adherence to strict preventive diagnostic guidelines prevents costly grid breakdowns, fully secures resident lives, and sets an exemplary safety benchmark for modern community utilities.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289E18F-A7B9-F90F-FEF9-99298DFAAEE3}"/>
              </a:ext>
            </a:extLst>
          </p:cNvPr>
          <p:cNvGrpSpPr/>
          <p:nvPr/>
        </p:nvGrpSpPr>
        <p:grpSpPr>
          <a:xfrm>
            <a:off x="809625" y="2092672"/>
            <a:ext cx="2143125" cy="1666875"/>
            <a:chOff x="809625" y="2092672"/>
            <a:chExt cx="2143125" cy="1666875"/>
          </a:xfrm>
        </p:grpSpPr>
        <p:sp>
          <p:nvSpPr>
            <p:cNvPr id="210" name="Google Shape;210;p18"/>
            <p:cNvSpPr txBox="1"/>
            <p:nvPr/>
          </p:nvSpPr>
          <p:spPr>
            <a:xfrm>
              <a:off x="1031081" y="2759422"/>
              <a:ext cx="1700212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Asset Protection</a:t>
              </a:r>
              <a:endParaRPr/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809625" y="3159472"/>
              <a:ext cx="2143125" cy="60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Increases equipment life by 40%. Prevents catastrophic failure of expensive high-voltage systems.</a:t>
              </a:r>
              <a:endParaRPr dirty="0"/>
            </a:p>
          </p:txBody>
        </p:sp>
        <p:pic>
          <p:nvPicPr>
            <p:cNvPr id="223" name="Google Shape;223;p18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738312" y="2092672"/>
              <a:ext cx="285750" cy="2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" name="Google Shape;224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48187" y="2092672"/>
            <a:ext cx="285750" cy="28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53481F2-378E-87A6-9191-B4A0CFA95EAC}"/>
              </a:ext>
            </a:extLst>
          </p:cNvPr>
          <p:cNvGrpSpPr/>
          <p:nvPr/>
        </p:nvGrpSpPr>
        <p:grpSpPr>
          <a:xfrm>
            <a:off x="6429375" y="2092672"/>
            <a:ext cx="2143125" cy="1866900"/>
            <a:chOff x="6429375" y="2092672"/>
            <a:chExt cx="2143125" cy="1866900"/>
          </a:xfrm>
        </p:grpSpPr>
        <p:sp>
          <p:nvSpPr>
            <p:cNvPr id="216" name="Google Shape;216;p18"/>
            <p:cNvSpPr txBox="1"/>
            <p:nvPr/>
          </p:nvSpPr>
          <p:spPr>
            <a:xfrm>
              <a:off x="6540817" y="2759422"/>
              <a:ext cx="192024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Insurance Benefits</a:t>
              </a:r>
              <a:endParaRPr/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6429375" y="3159472"/>
              <a:ext cx="2143125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Unlocks discounted premiums and guarantees prompt claim processing through periodic safety inspection logs.</a:t>
              </a:r>
              <a:endParaRPr dirty="0"/>
            </a:p>
          </p:txBody>
        </p:sp>
        <p:pic>
          <p:nvPicPr>
            <p:cNvPr id="225" name="Google Shape;225;p18" descr="image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7339012" y="2092672"/>
              <a:ext cx="323850" cy="285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2FA4280-99AE-D8A2-BD27-B71C58E2C6C5}"/>
              </a:ext>
            </a:extLst>
          </p:cNvPr>
          <p:cNvGrpSpPr/>
          <p:nvPr/>
        </p:nvGrpSpPr>
        <p:grpSpPr>
          <a:xfrm>
            <a:off x="9239250" y="2092672"/>
            <a:ext cx="2143125" cy="1866900"/>
            <a:chOff x="9239250" y="2092672"/>
            <a:chExt cx="2143125" cy="1866900"/>
          </a:xfrm>
        </p:grpSpPr>
        <p:sp>
          <p:nvSpPr>
            <p:cNvPr id="219" name="Google Shape;219;p18"/>
            <p:cNvSpPr txBox="1"/>
            <p:nvPr/>
          </p:nvSpPr>
          <p:spPr>
            <a:xfrm>
              <a:off x="9515713" y="2759422"/>
              <a:ext cx="1590198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Resident Peace</a:t>
              </a:r>
              <a:endParaRPr/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9239250" y="3159472"/>
              <a:ext cx="2143125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Assures uninterrupted lifestyle supply continuity across all 1,458 residential apartments during peak monsoon.</a:t>
              </a:r>
              <a:endParaRPr dirty="0"/>
            </a:p>
          </p:txBody>
        </p:sp>
        <p:pic>
          <p:nvPicPr>
            <p:cNvPr id="226" name="Google Shape;226;p18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10148887" y="2092672"/>
              <a:ext cx="323850" cy="2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7" name="Google Shape;227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0" y="5334000"/>
            <a:ext cx="12192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 txBox="1"/>
          <p:nvPr/>
        </p:nvSpPr>
        <p:spPr>
          <a:xfrm>
            <a:off x="571500" y="47625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PROGRAM BENEFITS &amp; CONCLUSION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571500" y="113913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;p15">
            <a:extLst>
              <a:ext uri="{FF2B5EF4-FFF2-40B4-BE49-F238E27FC236}">
                <a16:creationId xmlns:a16="http://schemas.microsoft.com/office/drawing/2014/main" id="{5E14CCB2-202F-9722-A7AA-7B36A360E7AF}"/>
              </a:ext>
            </a:extLst>
          </p:cNvPr>
          <p:cNvSpPr/>
          <p:nvPr/>
        </p:nvSpPr>
        <p:spPr>
          <a:xfrm>
            <a:off x="910370" y="1244947"/>
            <a:ext cx="9949963" cy="2762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491</Words>
  <Application>Microsoft Office PowerPoint</Application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Poppins</vt:lpstr>
      <vt:lpstr>Poppins SemiBold</vt:lpstr>
      <vt:lpstr>Lato</vt:lpstr>
      <vt:lpstr>Arial</vt:lpstr>
      <vt:lpstr>Century Gothic</vt:lpstr>
      <vt:lpstr>Calibri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</dc:creator>
  <cp:lastModifiedBy>Deepak Gupta</cp:lastModifiedBy>
  <cp:revision>10</cp:revision>
  <dcterms:modified xsi:type="dcterms:W3CDTF">2026-07-15T14:28:48Z</dcterms:modified>
</cp:coreProperties>
</file>